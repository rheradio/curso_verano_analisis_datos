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4.xml" /><Relationship Id="rId4" Type="http://schemas.openxmlformats.org/officeDocument/2006/relationships/slide" Target="slide7.xml" /><Relationship Id="rId5" Type="http://schemas.openxmlformats.org/officeDocument/2006/relationships/slide" Target="slide9.xml" /><Relationship Id="rId6" Type="http://schemas.openxmlformats.org/officeDocument/2006/relationships/slide" Target="slide11.xml" /><Relationship Id="rId7" Type="http://schemas.openxmlformats.org/officeDocument/2006/relationships/slide" Target="slide12.xml" /><Relationship Id="rId8" Type="http://schemas.openxmlformats.org/officeDocument/2006/relationships/slide" Target="slide36.xml" /><Relationship Id="rId9" Type="http://schemas.openxmlformats.org/officeDocument/2006/relationships/slide" Target="slide36.xml" /><Relationship Id="rId10" Type="http://schemas.openxmlformats.org/officeDocument/2006/relationships/slide" Target="slide37.xml" /><Relationship Id="rId11" Type="http://schemas.openxmlformats.org/officeDocument/2006/relationships/slide" Target="slide4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vc.cervantes.es/literatura/clasicos/quijote/edicion/parte1/cap01/default.htm#np2n" TargetMode="External" /><Relationship Id="rId3" Type="http://schemas.openxmlformats.org/officeDocument/2006/relationships/hyperlink" Target="https://cvc.cervantes.es/literatura/clasicos/quijote/edicion/parte1/cap01/default.htm#np3n" TargetMode="External" /><Relationship Id="rId4" Type="http://schemas.openxmlformats.org/officeDocument/2006/relationships/hyperlink" Target="https://cvc.cervantes.es/literatura/clasicos/quijote/edicion/parte1/cap01/default.htm#np4n" TargetMode="External" /><Relationship Id="rId5" Type="http://schemas.openxmlformats.org/officeDocument/2006/relationships/hyperlink" Target="https://cvc.cervantes.es/literatura/clasicos/quijote/edicion/parte1/cap01/default.htm#np5n" TargetMode="External" /><Relationship Id="rId6" Type="http://schemas.openxmlformats.org/officeDocument/2006/relationships/hyperlink" Target="https://cvc.cervantes.es/literatura/clasicos/quijote/edicion/parte1/cap01/default.htm#np6n" TargetMode="External" /><Relationship Id="rId7" Type="http://schemas.openxmlformats.org/officeDocument/2006/relationships/hyperlink" Target="https://cvc.cervantes.es/literatura/clasicos/quijote/edicion/parte1/cap01/default.htm#np7n" TargetMode="External" /><Relationship Id="rId8" Type="http://schemas.openxmlformats.org/officeDocument/2006/relationships/hyperlink" Target="https://cvc.cervantes.es/literatura/clasicos/quijote/edicion/parte1/cap01/default.htm#np8n" TargetMode="External" /><Relationship Id="rId9" Type="http://schemas.openxmlformats.org/officeDocument/2006/relationships/hyperlink" Target="https://cvc.cervantes.es/literatura/clasicos/quijote/edicion/parte1/cap01/default.htm#np9n" TargetMode="External" /><Relationship Id="rId10" Type="http://schemas.openxmlformats.org/officeDocument/2006/relationships/hyperlink" Target="https://cvc.cervantes.es/literatura/clasicos/quijote/edicion/parte1/cap01/default.htm#np10n" TargetMode="External" /><Relationship Id="rId11" Type="http://schemas.openxmlformats.org/officeDocument/2006/relationships/hyperlink" Target="https://cvc.cervantes.es/literatura/clasicos/quijote/edicion/parte1/cap01/default.htm#np11n" TargetMode="External" /><Relationship Id="rId12" Type="http://schemas.openxmlformats.org/officeDocument/2006/relationships/hyperlink" Target="https://cvc.cervantes.es/literatura/clasicos/quijote/edicion/parte1/cap01/default.htm#np12n" TargetMode="External" /><Relationship Id="rId13" Type="http://schemas.openxmlformats.org/officeDocument/2006/relationships/hyperlink" Target="https://cvc.cervantes.es/literatura/clasicos/quijote/edicion/parte1/cap01/default.htm#np13n" TargetMode="External" /><Relationship Id="rId14" Type="http://schemas.openxmlformats.org/officeDocument/2006/relationships/hyperlink" Target="https://cvc.cervantes.es/literatura/clasicos/quijote/edicion/parte1/cap01/default.htm#np14n" TargetMode="External" /><Relationship Id="rId15" Type="http://schemas.openxmlformats.org/officeDocument/2006/relationships/hyperlink" Target="https://cvc.cervantes.es/literatura/clasicos/quijote/edicion/parte1/cap01/default.htm#np15n" TargetMode="External" /><Relationship Id="rId16" Type="http://schemas.openxmlformats.org/officeDocument/2006/relationships/hyperlink" Target="https://cvc.cervantes.es/literatura/clasicos/quijote/edicion/parte1/cap01/default.htm#acn2" TargetMode="External" /><Relationship Id="rId17" Type="http://schemas.openxmlformats.org/officeDocument/2006/relationships/hyperlink" Target="https://cvc.cervantes.es/literatura/clasicos/quijote/edicion/parte1/cap01/default.htm#acn3" TargetMode="External" /><Relationship Id="rId18" Type="http://schemas.openxmlformats.org/officeDocument/2006/relationships/hyperlink" Target="https://cvc.cervantes.es/literatura/clasicos/quijote/edicion/parte1/cap01/default.htm#np16n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omviajesyrelatos.com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Buscando EL lugar de la mancha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Victoria Ruiz Parrado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¿Es Villanueva de los Infantes El lugar de La Mancha?</a:t>
            </a:r>
          </a:p>
          <a:p>
            <a:pPr lvl="0"/>
            <a:r>
              <a:rPr>
                <a:hlinkClick r:id="rId3" action="ppaction://hlinksldjump"/>
              </a:rPr>
              <a:t>Texto El Quijote</a:t>
            </a:r>
          </a:p>
          <a:p>
            <a:pPr lvl="0"/>
            <a:r>
              <a:rPr>
                <a:hlinkClick r:id="rId4" action="ppaction://hlinksldjump"/>
              </a:rPr>
              <a:t>Mapa de Castilla La Mancha</a:t>
            </a:r>
          </a:p>
          <a:p>
            <a:pPr lvl="0"/>
            <a:r>
              <a:rPr>
                <a:hlinkClick r:id="rId5" action="ppaction://hlinksldjump"/>
              </a:rPr>
              <a:t>Descripción distancias</a:t>
            </a:r>
          </a:p>
          <a:p>
            <a:pPr lvl="0"/>
            <a:r>
              <a:rPr>
                <a:hlinkClick r:id="rId6" action="ppaction://hlinksldjump"/>
              </a:rPr>
              <a:t>Investigación</a:t>
            </a:r>
          </a:p>
          <a:p>
            <a:pPr lvl="0"/>
            <a:r>
              <a:rPr>
                <a:hlinkClick r:id="rId7" action="ppaction://hlinksldjump"/>
              </a:rPr>
              <a:t>Pruebas</a:t>
            </a:r>
          </a:p>
          <a:p>
            <a:pPr lvl="0"/>
            <a:r>
              <a:rPr>
                <a:hlinkClick r:id="rId8" action="ppaction://hlinksldjump"/>
              </a:rPr>
              <a:t>Conclusiones</a:t>
            </a:r>
          </a:p>
          <a:p>
            <a:pPr lvl="1"/>
            <a:r>
              <a:rPr>
                <a:hlinkClick r:id="rId9" action="ppaction://hlinksldjump"/>
              </a:rPr>
              <a:t>Análisis descriptivo:</a:t>
            </a:r>
          </a:p>
          <a:p>
            <a:pPr lvl="1"/>
            <a:r>
              <a:rPr>
                <a:hlinkClick r:id="rId10" action="ppaction://hlinksldjump"/>
              </a:rPr>
              <a:t>Test no paramétricos</a:t>
            </a:r>
          </a:p>
          <a:p>
            <a:pPr lvl="0"/>
            <a:r>
              <a:rPr>
                <a:hlinkClick r:id="rId11" action="ppaction://hlinksldjump"/>
              </a:rPr>
              <a:t>Bibliografía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¿Es Villanueva de los Infantes El lugar de La Mancha?</a:t>
            </a:r>
          </a:p>
        </p:txBody>
      </p:sp>
      <p:pic>
        <p:nvPicPr>
          <p:cNvPr descr="https://upload.wikimedia.org/wikipedia/commons/f/fe/Quijote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76600" y="1193800"/>
            <a:ext cx="2590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Texto El Quijote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 u="sng"/>
              <a:t>En un lugar de la Mancha</a:t>
            </a:r>
            <a:r>
              <a:rPr b="1" i="1" baseline="30000">
                <a:hlinkClick r:id="rId2"/>
              </a:rPr>
              <a:t>2</a:t>
            </a:r>
            <a:r>
              <a:rPr i="1"/>
              <a:t>, de cuyo nombre no quiero acordarme</a:t>
            </a:r>
            <a:r>
              <a:rPr i="1" baseline="30000">
                <a:hlinkClick r:id="rId3"/>
              </a:rPr>
              <a:t>3</a:t>
            </a:r>
            <a:r>
              <a:rPr i="1"/>
              <a:t>, no ha mucho tiempo que vivía un hidalgo de los de lanza en astillero, adarga antigua, rocín flaco y galgo corredor</a:t>
            </a:r>
            <a:r>
              <a:rPr i="1" baseline="30000">
                <a:hlinkClick r:id="rId4"/>
              </a:rPr>
              <a:t>4</a:t>
            </a:r>
            <a:r>
              <a:rPr i="1"/>
              <a:t>. Una olla de algo más vaca que carnero, salpicón las más noches</a:t>
            </a:r>
            <a:r>
              <a:rPr i="1" baseline="30000">
                <a:hlinkClick r:id="rId5"/>
              </a:rPr>
              <a:t>5</a:t>
            </a:r>
            <a:r>
              <a:rPr i="1"/>
              <a:t>, duelos y quebrantos los sábados</a:t>
            </a:r>
            <a:r>
              <a:rPr i="1" baseline="30000">
                <a:hlinkClick r:id="rId6"/>
              </a:rPr>
              <a:t>6</a:t>
            </a:r>
            <a:r>
              <a:rPr i="1"/>
              <a:t>, lantejas los viernes</a:t>
            </a:r>
            <a:r>
              <a:rPr i="1" baseline="30000">
                <a:hlinkClick r:id="rId7"/>
              </a:rPr>
              <a:t>7</a:t>
            </a:r>
            <a:r>
              <a:rPr i="1"/>
              <a:t>, algún palomino de añadidura los domingos</a:t>
            </a:r>
            <a:r>
              <a:rPr i="1" baseline="30000">
                <a:hlinkClick r:id="rId8"/>
              </a:rPr>
              <a:t>8</a:t>
            </a:r>
            <a:r>
              <a:rPr i="1"/>
              <a:t>, consumían las tres partes de su hacienda</a:t>
            </a:r>
            <a:r>
              <a:rPr i="1" baseline="30000">
                <a:hlinkClick r:id="rId9"/>
              </a:rPr>
              <a:t>9</a:t>
            </a:r>
            <a:r>
              <a:rPr i="1"/>
              <a:t>. El resto della concluían sayo de velarte</a:t>
            </a:r>
            <a:r>
              <a:rPr i="1" baseline="30000">
                <a:hlinkClick r:id="rId10"/>
              </a:rPr>
              <a:t>10</a:t>
            </a:r>
            <a:r>
              <a:rPr i="1"/>
              <a:t>, calzas de velludo para las fiestas, con sus pantuflos de lo mesmo</a:t>
            </a:r>
            <a:r>
              <a:rPr i="1" baseline="30000">
                <a:hlinkClick r:id="rId11"/>
              </a:rPr>
              <a:t>11</a:t>
            </a:r>
            <a:r>
              <a:rPr i="1"/>
              <a:t>, y los días de entresemana se honraba con su vellorí de lo más fino</a:t>
            </a:r>
            <a:r>
              <a:rPr i="1" baseline="30000">
                <a:hlinkClick r:id="rId12"/>
              </a:rPr>
              <a:t>12</a:t>
            </a:r>
            <a:r>
              <a:rPr i="1"/>
              <a:t>. Tenía en su casa una ama que pasaba de los cuarenta y una sobrina que no llegaba a los veinte, y un mozo de campo y plaza que así ensillaba el rocín como tomaba la podadera</a:t>
            </a:r>
            <a:r>
              <a:rPr i="1" baseline="30000">
                <a:hlinkClick r:id="rId13"/>
              </a:rPr>
              <a:t>13</a:t>
            </a:r>
            <a:r>
              <a:rPr i="1"/>
              <a:t>. Frisaba la edad de nuestro hidalgo con los cincuenta años</a:t>
            </a:r>
            <a:r>
              <a:rPr i="1" baseline="30000">
                <a:hlinkClick r:id="rId14"/>
              </a:rPr>
              <a:t>14</a:t>
            </a:r>
            <a:r>
              <a:rPr i="1"/>
              <a:t>. Era de complexión recia, seco de carnes, enjuto de rostro</a:t>
            </a:r>
            <a:r>
              <a:rPr i="1" baseline="30000">
                <a:hlinkClick r:id="rId15"/>
              </a:rPr>
              <a:t>15</a:t>
            </a:r>
            <a:r>
              <a:rPr i="1"/>
              <a:t>, gran madrugador y amigo de la caza. Quieren decir que tenía el sobrenombre de «Quijada», o «Quesada», que en esto hay alguna diferencia en los autores que deste caso escriben, aunque por conjeturas verisímiles</a:t>
            </a:r>
            <a:r>
              <a:rPr i="1" baseline="30000">
                <a:hlinkClick r:id="rId16"/>
              </a:rPr>
              <a:t>II</a:t>
            </a:r>
            <a:r>
              <a:rPr i="1"/>
              <a:t> se deja entender que se llamaba «</a:t>
            </a:r>
            <a:r>
              <a:rPr b="1" i="1"/>
              <a:t>Quijana</a:t>
            </a:r>
            <a:r>
              <a:rPr i="1"/>
              <a:t>»</a:t>
            </a:r>
            <a:r>
              <a:rPr i="1" baseline="30000">
                <a:hlinkClick r:id="rId17"/>
              </a:rPr>
              <a:t>III</a:t>
            </a:r>
            <a:r>
              <a:rPr i="1" baseline="30000"/>
              <a:t>, </a:t>
            </a:r>
            <a:r>
              <a:rPr i="1" baseline="30000">
                <a:hlinkClick r:id="rId18"/>
              </a:rPr>
              <a:t>16</a:t>
            </a:r>
            <a:r>
              <a:rPr i="1"/>
              <a:t>. Pero esto importa poco a nuestro cuento: basta que en la narración dél no se salga un punto de la verdad. (De Cervantes Saavedra 1605)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 grupo de investigadores ha recolectado evaluaciones subjetivas de expertos en literatura, historia y cultura manchega sobre cuatro pueblos candidatos a ser el famoso “lugar de La Mancha de cuyo nombre no quiero acordarme”.</a:t>
            </a:r>
          </a:p>
          <a:p>
            <a:pPr lvl="0" indent="0" marL="0">
              <a:buNone/>
            </a:pPr>
            <a:r>
              <a:rPr/>
              <a:t>Los </a:t>
            </a:r>
            <a:r>
              <a:rPr b="1"/>
              <a:t>criterios de evaluación</a:t>
            </a:r>
            <a:r>
              <a:rPr/>
              <a:t> son:</a:t>
            </a:r>
          </a:p>
          <a:p>
            <a:pPr lvl="0" indent="0" marL="0">
              <a:buNone/>
            </a:pPr>
            <a:r>
              <a:rPr/>
              <a:t>{nonincremental} - Idealismo cervantino</a:t>
            </a:r>
          </a:p>
          <a:p>
            <a:pPr lvl="0"/>
            <a:r>
              <a:rPr/>
              <a:t>Ambiente rural que encaja con la novela</a:t>
            </a:r>
          </a:p>
          <a:p>
            <a:pPr lvl="0"/>
            <a:r>
              <a:rPr/>
              <a:t>Presencia de tradiciones caballerescas</a:t>
            </a:r>
          </a:p>
          <a:p>
            <a:pPr lvl="0"/>
            <a:r>
              <a:rPr/>
              <a:t>Probabilidad histórica percibida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Los </a:t>
            </a:r>
            <a:r>
              <a:rPr b="1"/>
              <a:t>pueblos candidatos</a:t>
            </a:r>
            <a:r>
              <a:rPr/>
              <a:t> son:</a:t>
            </a:r>
          </a:p>
          <a:p>
            <a:pPr lvl="0" indent="0" marL="0">
              <a:buNone/>
            </a:pPr>
            <a:r>
              <a:rPr/>
              <a:t>{.incremental} - Argamasilla de Alba</a:t>
            </a:r>
          </a:p>
          <a:p>
            <a:pPr lvl="0"/>
            <a:r>
              <a:rPr/>
              <a:t>Villanueva de los Infantes</a:t>
            </a:r>
          </a:p>
          <a:p>
            <a:pPr lvl="0"/>
            <a:r>
              <a:rPr/>
              <a:t>Campo de Criptana</a:t>
            </a:r>
          </a:p>
          <a:p>
            <a:pPr lvl="0"/>
            <a:r>
              <a:rPr/>
              <a:t>El Toboso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Mapa de Castilla La Mancha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 averiguar cual es el verdadero lugar de la mancha, hay que tener en cuenta el mapa de carreteras de la épica.</a:t>
            </a:r>
          </a:p>
          <a:p>
            <a:pPr lvl="0" indent="0" marL="0">
              <a:buNone/>
            </a:pPr>
            <a:r>
              <a:rPr/>
              <a:t>La Figure 1 muestra el mapa de Castilla La Mancha que tenía Don Quijote.</a:t>
            </a:r>
          </a:p>
        </p:txBody>
      </p:sp>
      <p:pic>
        <p:nvPicPr>
          <p:cNvPr descr="fig:  MAPA-RUTA-QUIJOT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10000" y="203200"/>
            <a:ext cx="46228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Mapa Cervantes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Imagen obtenida de </a:t>
            </a:r>
            <a:r>
              <a:rPr>
                <a:hlinkClick r:id="rId2"/>
              </a:rPr>
              <a:t>https://omviajesyrelatos.com/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Descripción distancias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Las distancias se calculan según la fórmula de Euler: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1"/>
                        </m:radPr>
                        <m:deg/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  <m:r>
                        <m:t>  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 variables x e y son las coordenadas, y las variables PL, SM, ET y MU son las distancias de cada pueblo a Puerto Lápice, Sierra Morena y El Toboso, más la correspondiente al denominado </a:t>
            </a:r>
            <a:r>
              <a:rPr i="1"/>
              <a:t>punto Tarfe (GONZÁLEZ-TORRE and INSUA 2008)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#Datos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Investigación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 determinar si Villanueva de los Infantes es el pueblo de Don Quijote, los investigadores se han hecho las siguientes preguntas:</a:t>
            </a:r>
          </a:p>
          <a:p>
            <a:pPr lvl="0"/>
            <a:r>
              <a:rPr/>
              <a:t>¿Es Argamasilla de Alba percibida como significativamente menos idealista que Villanueva de los Infantes?</a:t>
            </a:r>
          </a:p>
          <a:p>
            <a:pPr lvl="0"/>
            <a:r>
              <a:rPr/>
              <a:t>¿Aumenta significativamente la valoración de Villanueva tras leer El Quijote?</a:t>
            </a:r>
          </a:p>
          <a:p>
            <a:pPr lvl="0"/>
            <a:r>
              <a:rPr/>
              <a:t>¿Hay diferencias significativas en la percepción “quijotesca” entre los cuatro pueblos? Si hay diferencias, ¿cuáles destacan?</a:t>
            </a:r>
          </a:p>
          <a:p>
            <a:pPr lvl="0"/>
            <a:r>
              <a:rPr/>
              <a:t>¿Cuál es el criterio más valorado en Villanuev de los Infantes? ¿Las diferencias entre criterios son significativas?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Pruebas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 sección recoge los datos recopilados para responder a las preguntas anteriores.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Prueba 1: Comparación entre la idealidad de dos pueblos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Prueba 2: Comparación de la percepción histórica antes y después de leer el Quijote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Prueba 3: Comparación entre los cuatro pueblos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Prueba 4: Comparación entre los criterios de evaluación en un mismo pueblo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Prueba 1: Test de Mann-Whitney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Análisis descriptivo: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#Exploración datos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#################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#Graficos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boxplot</a:t>
            </a:r>
            <a:r>
              <a:rPr>
                <a:solidFill>
                  <a:srgbClr val="003B4F"/>
                </a:solidFill>
                <a:latin typeface="Courier"/>
              </a:rPr>
              <a:t>(opiniones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pueblo,</a:t>
            </a:r>
            <a:r>
              <a:rPr>
                <a:solidFill>
                  <a:srgbClr val="657422"/>
                </a:solidFill>
                <a:latin typeface="Courier"/>
              </a:rPr>
              <a:t>data=</a:t>
            </a:r>
            <a:r>
              <a:rPr>
                <a:solidFill>
                  <a:srgbClr val="003B4F"/>
                </a:solidFill>
                <a:latin typeface="Courier"/>
              </a:rPr>
              <a:t>datos)</a:t>
            </a:r>
          </a:p>
        </p:txBody>
      </p:sp>
      <p:pic>
        <p:nvPicPr>
          <p:cNvPr descr="presentacion_quijote_ppt_files/figure-pptx/exploracion-p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#Estadísticos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analisis_descriptivo&lt;-</a:t>
            </a:r>
            <a:r>
              <a:rPr>
                <a:solidFill>
                  <a:srgbClr val="4758AB"/>
                </a:solidFill>
                <a:latin typeface="Courier"/>
              </a:rPr>
              <a:t>by</a:t>
            </a:r>
            <a:r>
              <a:rPr>
                <a:solidFill>
                  <a:srgbClr val="003B4F"/>
                </a:solidFill>
                <a:latin typeface="Courier"/>
              </a:rPr>
              <a:t>(datos[,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"opiniones"</a:t>
            </a:r>
            <a:r>
              <a:rPr>
                <a:solidFill>
                  <a:srgbClr val="003B4F"/>
                </a:solidFill>
                <a:latin typeface="Courier"/>
              </a:rPr>
              <a:t>)], datos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pueblo, stat.desc, </a:t>
            </a:r>
            <a:r>
              <a:rPr>
                <a:solidFill>
                  <a:srgbClr val="657422"/>
                </a:solidFill>
                <a:latin typeface="Courier"/>
              </a:rPr>
              <a:t>basic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657422"/>
                </a:solidFill>
                <a:latin typeface="Courier"/>
              </a:rPr>
              <a:t>norm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analisis_descriptivo</a:t>
            </a:r>
          </a:p>
          <a:p>
            <a:pPr lvl="0" indent="0">
              <a:buNone/>
            </a:pPr>
            <a:r>
              <a:rPr>
                <a:latin typeface="Courier"/>
              </a:rPr>
              <a:t>datos$pueblo: Argamasilla
      median         mean      SE.mean CI.mean.0.95          var      std.dev 
   5.0000000    5.2000000    0.3741657    1.0388506    0.7000000    0.8366600 
    coef.var     skewness     skew.2SE     kurtosis     kurt.2SE   normtest.W 
   0.1608962   -0.2458756   -0.1346716   -1.8179592   -0.4544898    0.8810376 
  normtest.p 
   0.3140396 
------------------------------------------------------------ 
datos$pueblo: Villanueva
      median         mean      SE.mean CI.mean.0.95          var      std.dev 
   8.0000000    8.2000000    0.3741657    1.0388506    0.7000000    0.8366600 
    coef.var     skewness     skew.2SE     kurtosis     kurt.2SE   normtest.W 
   0.1020317   -0.2458756   -0.1346716   -1.8179592   -0.4544898    0.8810376 
  normtest.p 
   0.3140396 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media_argamasilla&lt;-analisis_descriptivo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Argamasilla[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media_villanueva&lt;-analisis_descriptivo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Villanueva[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Mann-Whitney: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#Contraste Mann-Whitney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######################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prueba1Model&lt;-</a:t>
            </a:r>
            <a:r>
              <a:rPr>
                <a:solidFill>
                  <a:srgbClr val="4758AB"/>
                </a:solidFill>
                <a:latin typeface="Courier"/>
              </a:rPr>
              <a:t>wilcox.test</a:t>
            </a:r>
            <a:r>
              <a:rPr>
                <a:solidFill>
                  <a:srgbClr val="003B4F"/>
                </a:solidFill>
                <a:latin typeface="Courier"/>
              </a:rPr>
              <a:t>(opiniones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pueblo,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datos, </a:t>
            </a:r>
            <a:r>
              <a:rPr>
                <a:solidFill>
                  <a:srgbClr val="657422"/>
                </a:solidFill>
                <a:latin typeface="Courier"/>
              </a:rPr>
              <a:t>exact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correct=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prueba1Model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rank sum test
data:  opiniones by pueblo
W = 0, p-value = 0.008208
alternative hypothesis: true location shift is not equal to 0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p1_pvalor&lt;-prueba1Model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W&lt;-prueba1Model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Tamaño del efecto: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#Tamaño del efecto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rFromWilcox&lt;-function(wilcoxModel, N){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z&lt;- </a:t>
            </a:r>
            <a:r>
              <a:rPr>
                <a:solidFill>
                  <a:srgbClr val="4758AB"/>
                </a:solidFill>
                <a:latin typeface="Courier"/>
              </a:rPr>
              <a:t>qnorm</a:t>
            </a:r>
            <a:r>
              <a:rPr>
                <a:solidFill>
                  <a:srgbClr val="003B4F"/>
                </a:solidFill>
                <a:latin typeface="Courier"/>
              </a:rPr>
              <a:t>(wilcoxModel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r&lt;- z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(wilcoxModel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data.name, </a:t>
            </a:r>
            <a:r>
              <a:rPr>
                <a:solidFill>
                  <a:srgbClr val="20794D"/>
                </a:solidFill>
                <a:latin typeface="Courier"/>
              </a:rPr>
              <a:t>"Effect Size, r = "</a:t>
            </a:r>
            <a:r>
              <a:rPr>
                <a:solidFill>
                  <a:srgbClr val="003B4F"/>
                </a:solidFill>
                <a:latin typeface="Courier"/>
              </a:rPr>
              <a:t>, 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 (r)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rFromWilcox</a:t>
            </a:r>
            <a:r>
              <a:rPr>
                <a:solidFill>
                  <a:srgbClr val="003B4F"/>
                </a:solidFill>
                <a:latin typeface="Courier"/>
              </a:rPr>
              <a:t>(prueba1Model,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opiniones by pueblo Effect Size, r =  -0.5910828</a:t>
            </a:r>
          </a:p>
          <a:p>
            <a:pPr lvl="0" indent="0">
              <a:buNone/>
            </a:pPr>
            <a:r>
              <a:rPr>
                <a:latin typeface="Courier"/>
              </a:rPr>
              <a:t>[1] -0.5910828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p1_efecto&lt;-</a:t>
            </a:r>
            <a:r>
              <a:rPr>
                <a:solidFill>
                  <a:srgbClr val="4758AB"/>
                </a:solidFill>
                <a:latin typeface="Courier"/>
              </a:rPr>
              <a:t>rFromWilcox</a:t>
            </a:r>
            <a:r>
              <a:rPr>
                <a:solidFill>
                  <a:srgbClr val="003B4F"/>
                </a:solidFill>
                <a:latin typeface="Courier"/>
              </a:rPr>
              <a:t>(prueba1Model,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opiniones by pueblo Effect Size, r =  -0.5910828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Prueba 2: Test de rangos signados de Wilcoxon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Importación datos: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#Importación datos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##################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grupo&lt;-</a:t>
            </a:r>
            <a:r>
              <a:rPr>
                <a:solidFill>
                  <a:srgbClr val="4758AB"/>
                </a:solidFill>
                <a:latin typeface="Courier"/>
              </a:rPr>
              <a:t>gl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length=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labels=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"Antes leer"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"Después leer"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r>
              <a:rPr>
                <a:solidFill>
                  <a:srgbClr val="657422"/>
                </a:solidFill>
                <a:latin typeface="Courier"/>
              </a:rPr>
              <a:t>ordered=</a:t>
            </a:r>
            <a:r>
              <a:rPr>
                <a:solidFill>
                  <a:srgbClr val="003B4F"/>
                </a:solidFill>
                <a:latin typeface="Courier"/>
              </a:rPr>
              <a:t>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antes&lt;-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despues&lt;-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datos&lt;-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grupo=</a:t>
            </a:r>
            <a:r>
              <a:rPr>
                <a:solidFill>
                  <a:srgbClr val="003B4F"/>
                </a:solidFill>
                <a:latin typeface="Courier"/>
              </a:rPr>
              <a:t>grupo,</a:t>
            </a:r>
            <a:r>
              <a:rPr>
                <a:solidFill>
                  <a:srgbClr val="657422"/>
                </a:solidFill>
                <a:latin typeface="Courier"/>
              </a:rPr>
              <a:t>opinion=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(antes,despues))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Análisis descriptivo datos: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#Exploración datos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#################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#Graficos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boxplot</a:t>
            </a:r>
            <a:r>
              <a:rPr>
                <a:solidFill>
                  <a:srgbClr val="003B4F"/>
                </a:solidFill>
                <a:latin typeface="Courier"/>
              </a:rPr>
              <a:t>(opinion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grupo,</a:t>
            </a:r>
            <a:r>
              <a:rPr>
                <a:solidFill>
                  <a:srgbClr val="657422"/>
                </a:solidFill>
                <a:latin typeface="Courier"/>
              </a:rPr>
              <a:t>data=</a:t>
            </a:r>
            <a:r>
              <a:rPr>
                <a:solidFill>
                  <a:srgbClr val="003B4F"/>
                </a:solidFill>
                <a:latin typeface="Courier"/>
              </a:rPr>
              <a:t>datos)</a:t>
            </a:r>
          </a:p>
        </p:txBody>
      </p:sp>
      <p:pic>
        <p:nvPicPr>
          <p:cNvPr descr="presentacion_quijote_ppt_files/figure-pptx/exploracion-p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#Estadísticos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ad_p2&lt;-</a:t>
            </a:r>
            <a:r>
              <a:rPr>
                <a:solidFill>
                  <a:srgbClr val="4758AB"/>
                </a:solidFill>
                <a:latin typeface="Courier"/>
              </a:rPr>
              <a:t>by</a:t>
            </a:r>
            <a:r>
              <a:rPr>
                <a:solidFill>
                  <a:srgbClr val="003B4F"/>
                </a:solidFill>
                <a:latin typeface="Courier"/>
              </a:rPr>
              <a:t>(datos[,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"opinion"</a:t>
            </a:r>
            <a:r>
              <a:rPr>
                <a:solidFill>
                  <a:srgbClr val="003B4F"/>
                </a:solidFill>
                <a:latin typeface="Courier"/>
              </a:rPr>
              <a:t>)], datos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grupo, stat.desc, </a:t>
            </a:r>
            <a:r>
              <a:rPr>
                <a:solidFill>
                  <a:srgbClr val="657422"/>
                </a:solidFill>
                <a:latin typeface="Courier"/>
              </a:rPr>
              <a:t>basic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657422"/>
                </a:solidFill>
                <a:latin typeface="Courier"/>
              </a:rPr>
              <a:t>norm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ad_p2</a:t>
            </a:r>
          </a:p>
          <a:p>
            <a:pPr lvl="0" indent="0">
              <a:buNone/>
            </a:pPr>
            <a:r>
              <a:rPr>
                <a:latin typeface="Courier"/>
              </a:rPr>
              <a:t>datos$grupo: Antes leer
      median         mean      SE.mean CI.mean.0.95          var      std.dev 
   6.0000000    5.8000000    0.3741657    1.0388506    0.7000000    0.8366600 
    coef.var     skewness     skew.2SE     kurtosis     kurt.2SE   normtest.W 
   0.1442517    0.2458756    0.1346716   -1.8179592   -0.4544898    0.8810376 
  normtest.p 
   0.3140396 
------------------------------------------------------------ 
datos$grupo: Después leer
      median         mean      SE.mean CI.mean.0.95          var      std.dev 
   8.0000000    8.2000000    0.3741657    1.0388506    0.7000000    0.8366600 
    coef.var     skewness     skew.2SE     kurtosis     kurt.2SE   normtest.W 
   0.1020317   -0.2458756   -0.1346716   -1.8179592   -0.4544898    0.8810376 
  normtest.p 
   0.3140396 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media_antes&lt;-ad_p2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Antes leer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media_despues&lt;-ad_p2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Después leer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rangos signados de Wilcoxon: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#Contraste Rangos Signados de Wilcoxon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######################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#Test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prueba2Model&lt;-</a:t>
            </a:r>
            <a:r>
              <a:rPr>
                <a:solidFill>
                  <a:srgbClr val="4758AB"/>
                </a:solidFill>
                <a:latin typeface="Courier"/>
              </a:rPr>
              <a:t>wilcox.test</a:t>
            </a:r>
            <a:r>
              <a:rPr>
                <a:solidFill>
                  <a:srgbClr val="003B4F"/>
                </a:solidFill>
                <a:latin typeface="Courier"/>
              </a:rPr>
              <a:t>(antes, despues,</a:t>
            </a:r>
            <a:r>
              <a:rPr>
                <a:solidFill>
                  <a:srgbClr val="657422"/>
                </a:solidFill>
                <a:latin typeface="Courier"/>
              </a:rPr>
              <a:t>paired=</a:t>
            </a:r>
            <a:r>
              <a:rPr>
                <a:solidFill>
                  <a:srgbClr val="003B4F"/>
                </a:solidFill>
                <a:latin typeface="Courier"/>
              </a:rPr>
              <a:t>T,</a:t>
            </a:r>
            <a:r>
              <a:rPr>
                <a:solidFill>
                  <a:srgbClr val="657422"/>
                </a:solidFill>
                <a:latin typeface="Courier"/>
              </a:rPr>
              <a:t>correct=</a:t>
            </a:r>
            <a:r>
              <a:rPr>
                <a:solidFill>
                  <a:srgbClr val="003B4F"/>
                </a:solidFill>
                <a:latin typeface="Courier"/>
              </a:rPr>
              <a:t>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prueba2Model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signed rank test
data:  antes and despues
V = 0, p-value = 0.03843
alternative hypothesis: true location shift is not equal to 0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p2_pvalor&lt;-prueba2Model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V&lt;-prueba2Model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Tamaño del efecto: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rFromWilcox</a:t>
            </a:r>
            <a:r>
              <a:rPr>
                <a:solidFill>
                  <a:srgbClr val="003B4F"/>
                </a:solidFill>
                <a:latin typeface="Courier"/>
              </a:rPr>
              <a:t>(prueba2Model,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antes and despues Effect Size, r =  -0.46291</a:t>
            </a:r>
          </a:p>
          <a:p>
            <a:pPr lvl="0" indent="0">
              <a:buNone/>
            </a:pPr>
            <a:r>
              <a:rPr>
                <a:latin typeface="Courier"/>
              </a:rPr>
              <a:t>[1] -0.46291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Prueba 3: Test de Kruskal Wallis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Importación datos: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#Importación datos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grupo&lt;-</a:t>
            </a:r>
            <a:r>
              <a:rPr>
                <a:solidFill>
                  <a:srgbClr val="4758AB"/>
                </a:solidFill>
                <a:latin typeface="Courier"/>
              </a:rPr>
              <a:t>gl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"Criptana"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"Argamasilla"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"Villanueva"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"Toboso"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opinion&lt;-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br/>
            <a:r>
              <a:rPr>
                <a:solidFill>
                  <a:srgbClr val="003B4F"/>
                </a:solidFill>
                <a:latin typeface="Courier"/>
              </a:rPr>
              <a:t>datos&lt;-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(opinion, grupo)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datos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grupo&lt;-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(datos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grupo,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(datos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grupo)[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)])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Análisis descriptivo datos: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#Graficos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(datos,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grupo,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opinion,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grupo))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"Boxplot opiniones expertos por pueblo"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"Pueblos"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"Opiniones"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presentacion_quijote_ppt_files/figure-pptx/exploracion-p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datos$grupo: Criptana
      median         mean      SE.mean CI.mean.0.95          var      std.dev 
  8.50000000   8.50000000   0.28867513   0.91869312   0.33333333   0.57735027 
    coef.var 
  0.06792356 
------------------------------------------------------------ 
datos$grupo: Argamasilla
      median         mean      SE.mean CI.mean.0.95          var      std.dev 
   5.0000000    5.0000000    0.4082483    1.2992283    0.6666667    0.8164966 
    coef.var 
   0.1632993 
------------------------------------------------------------ 
datos$grupo: Villanueva
      median         mean      SE.mean CI.mean.0.95          var      std.dev 
  9.00000000   9.00000000   0.40824829   1.29922826   0.66666667   0.81649658 
    coef.var 
  0.09072184 
------------------------------------------------------------ 
datos$grupo: Toboso
      median         mean      SE.mean CI.mean.0.95          var      std.dev 
   6.0000000    6.0000000    0.4082483    1.2992283    0.6666667    0.8164966 
    coef.var 
   0.1360828 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de Kruskal Wallis: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#Contraste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prueba3Model&lt;-</a:t>
            </a:r>
            <a:r>
              <a:rPr>
                <a:solidFill>
                  <a:srgbClr val="4758AB"/>
                </a:solidFill>
                <a:latin typeface="Courier"/>
              </a:rPr>
              <a:t>kruskal.test</a:t>
            </a:r>
            <a:r>
              <a:rPr>
                <a:solidFill>
                  <a:srgbClr val="003B4F"/>
                </a:solidFill>
                <a:latin typeface="Courier"/>
              </a:rPr>
              <a:t>(opinion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grupo,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datos)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prueba3Model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Kruskal-Wallis rank sum test
data:  opinion by grupo
Kruskal-Wallis chi-squared = 12.447, df = 3, p-value = 0.005999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p3_pvalor&lt;-prueba3Model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H&lt;-prueba3Model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Análisis rangos: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datos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Ranks&lt;-</a:t>
            </a:r>
            <a:r>
              <a:rPr>
                <a:solidFill>
                  <a:srgbClr val="4758AB"/>
                </a:solidFill>
                <a:latin typeface="Courier"/>
              </a:rPr>
              <a:t>rank</a:t>
            </a:r>
            <a:r>
              <a:rPr>
                <a:solidFill>
                  <a:srgbClr val="003B4F"/>
                </a:solidFill>
                <a:latin typeface="Courier"/>
              </a:rPr>
              <a:t>(datos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opinion)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by</a:t>
            </a:r>
            <a:r>
              <a:rPr>
                <a:solidFill>
                  <a:srgbClr val="003B4F"/>
                </a:solidFill>
                <a:latin typeface="Courier"/>
              </a:rPr>
              <a:t>(datos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Ranks, datos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grupo, mean)</a:t>
            </a:r>
          </a:p>
          <a:p>
            <a:pPr lvl="0" indent="0">
              <a:buNone/>
            </a:pPr>
            <a:r>
              <a:rPr>
                <a:latin typeface="Courier"/>
              </a:rPr>
              <a:t>datos$grupo: Criptana
[1] 11.75
------------------------------------------------------------ 
datos$grupo: Argamasilla
[1] 3.25
------------------------------------------------------------ 
datos$grupo: Villanueva
[1] 13.25
------------------------------------------------------------ 
datos$grupo: Toboso
[1] 5.75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de comparaciones múltiples: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#Test comparaciones Múltiples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cm&lt;-</a:t>
            </a:r>
            <a:r>
              <a:rPr>
                <a:solidFill>
                  <a:srgbClr val="4758AB"/>
                </a:solidFill>
                <a:latin typeface="Courier"/>
              </a:rPr>
              <a:t>kruskalmc</a:t>
            </a:r>
            <a:r>
              <a:rPr>
                <a:solidFill>
                  <a:srgbClr val="003B4F"/>
                </a:solidFill>
                <a:latin typeface="Courier"/>
              </a:rPr>
              <a:t>(opinion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grupo,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datos)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cm</a:t>
            </a:r>
          </a:p>
          <a:p>
            <a:pPr lvl="0" indent="0">
              <a:buNone/>
            </a:pPr>
            <a:r>
              <a:rPr>
                <a:latin typeface="Courier"/>
              </a:rPr>
              <a:t>Multiple comparison test after Kruskal-Wallis 
alpha: 0.05 
Comparisons
                       obs.dif critical.dif stat.signif
Criptana-Argamasilla       8.5     8.881697       FALSE
Criptana-Villanueva        1.5     8.881697       FALSE
Criptana-Toboso            6.0     8.881697       FALSE
Argamasilla-Villanueva    10.0     8.881697        TRUE
Argamasilla-Toboso         2.5     8.881697       FALSE
Villanueva-Toboso          7.5     8.881697       FALSE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diferencias_kw&lt;-</a:t>
            </a:r>
            <a:r>
              <a:rPr>
                <a:solidFill>
                  <a:srgbClr val="4758AB"/>
                </a:solidFill>
                <a:latin typeface="Courier"/>
              </a:rPr>
              <a:t>row.names</a:t>
            </a:r>
            <a:r>
              <a:rPr>
                <a:solidFill>
                  <a:srgbClr val="003B4F"/>
                </a:solidFill>
                <a:latin typeface="Courier"/>
              </a:rPr>
              <a:t>(cm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dif.com[cm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dif.com[</a:t>
            </a:r>
            <a:r>
              <a:rPr>
                <a:solidFill>
                  <a:srgbClr val="20794D"/>
                </a:solidFill>
                <a:latin typeface="Courier"/>
              </a:rPr>
              <a:t>"stat.signif"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,])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Prueba 4: Test de Friedman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Importación datos: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#Importacion datos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##################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idealismo&lt;-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ambiente&lt;-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tradicion&lt;-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probabilidad&lt;-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datos&lt;-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puntuaciones=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(idealismo, ambiente, tradicion, probabilidad),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criterio=</a:t>
            </a:r>
            <a:r>
              <a:rPr>
                <a:solidFill>
                  <a:srgbClr val="4758AB"/>
                </a:solidFill>
                <a:latin typeface="Courier"/>
              </a:rPr>
              <a:t>gl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labels=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"Idealismo"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"Ambiente"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"Tradición"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"Probabilidad"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Análisis descriptivo datos: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#Exploración datos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#################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#Graficos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boxplot</a:t>
            </a:r>
            <a:r>
              <a:rPr>
                <a:solidFill>
                  <a:srgbClr val="003B4F"/>
                </a:solidFill>
                <a:latin typeface="Courier"/>
              </a:rPr>
              <a:t>(puntuaciones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criterio,</a:t>
            </a:r>
            <a:r>
              <a:rPr>
                <a:solidFill>
                  <a:srgbClr val="657422"/>
                </a:solidFill>
                <a:latin typeface="Courier"/>
              </a:rPr>
              <a:t>data=</a:t>
            </a:r>
            <a:r>
              <a:rPr>
                <a:solidFill>
                  <a:srgbClr val="003B4F"/>
                </a:solidFill>
                <a:latin typeface="Courier"/>
              </a:rPr>
              <a:t>datos)</a:t>
            </a:r>
          </a:p>
        </p:txBody>
      </p:sp>
      <p:pic>
        <p:nvPicPr>
          <p:cNvPr descr="presentacion_quijote_ppt_files/figure-pptx/exploracion-p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#Estadísticos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by</a:t>
            </a:r>
            <a:r>
              <a:rPr>
                <a:solidFill>
                  <a:srgbClr val="003B4F"/>
                </a:solidFill>
                <a:latin typeface="Courier"/>
              </a:rPr>
              <a:t>(datos[,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"puntuaciones"</a:t>
            </a:r>
            <a:r>
              <a:rPr>
                <a:solidFill>
                  <a:srgbClr val="003B4F"/>
                </a:solidFill>
                <a:latin typeface="Courier"/>
              </a:rPr>
              <a:t>)], datos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criterio, stat.desc, </a:t>
            </a:r>
            <a:r>
              <a:rPr>
                <a:solidFill>
                  <a:srgbClr val="657422"/>
                </a:solidFill>
                <a:latin typeface="Courier"/>
              </a:rPr>
              <a:t>basic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657422"/>
                </a:solidFill>
                <a:latin typeface="Courier"/>
              </a:rPr>
              <a:t>norm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datos$criterio: Idealismo
      median         mean      SE.mean CI.mean.0.95          var      std.dev 
   7.0000000    7.0000000    0.4082483    1.2992283    0.6666667    0.8164966 
    coef.var     skewness     skew.2SE     kurtosis     kurt.2SE   normtest.W 
   0.1166424    0.0000000    0.0000000   -1.8750000   -0.3580137    0.9446644 
  normtest.p 
   0.6829615 
------------------------------------------------------------ 
datos$criterio: Ambiente
      median         mean      SE.mean CI.mean.0.95          var      std.dev 
   6.0000000    6.0000000    0.4082483    1.2992283    0.6666667    0.8164966 
    coef.var     skewness     skew.2SE     kurtosis     kurt.2SE   normtest.W 
   0.1360828    0.0000000    0.0000000   -1.8750000   -0.3580137    0.9446644 
  normtest.p 
   0.6829615 
------------------------------------------------------------ 
datos$criterio: Tradición
      median         mean      SE.mean CI.mean.0.95          var      std.dev 
  5.50000000   5.50000000   0.28867513   0.91869312   0.33333333   0.57735027 
    coef.var     skewness     skew.2SE     kurtosis     kurt.2SE   normtest.W 
  0.10497278   0.00000000   0.00000000  -2.43750000  -0.46541784   0.72863415 
  normtest.p 
  0.02385679 
------------------------------------------------------------ 
datos$criterio: Probabilidad
      median         mean      SE.mean CI.mean.0.95          var      std.dev 
  8.50000000   8.50000000   0.28867513   0.91869312   0.33333333   0.57735027 
    coef.var     skewness     skew.2SE     kurtosis     kurt.2SE   normtest.W 
  0.06792356   0.00000000   0.00000000  -2.43750000  -0.46541784   0.72863415 
  normtest.p 
  0.02385679 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de Friedman: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#Test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#####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#Quitamos datos perdidos (si los hubiera).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#Los datos tienen que pasarse como matriz al 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datos&lt;-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(idealismo, ambiente, tradicion, probabilidad),</a:t>
            </a:r>
            <a:r>
              <a:rPr>
                <a:solidFill>
                  <a:srgbClr val="657422"/>
                </a:solidFill>
                <a:latin typeface="Courier"/>
              </a:rPr>
              <a:t>nrow=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ncol=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datos &lt;- </a:t>
            </a:r>
            <a:r>
              <a:rPr>
                <a:solidFill>
                  <a:srgbClr val="4758AB"/>
                </a:solidFill>
                <a:latin typeface="Courier"/>
              </a:rPr>
              <a:t>as.matrix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na.omit</a:t>
            </a:r>
            <a:r>
              <a:rPr>
                <a:solidFill>
                  <a:srgbClr val="003B4F"/>
                </a:solidFill>
                <a:latin typeface="Courier"/>
              </a:rPr>
              <a:t>(datos))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prueba4Model&lt;-</a:t>
            </a:r>
            <a:r>
              <a:rPr>
                <a:solidFill>
                  <a:srgbClr val="4758AB"/>
                </a:solidFill>
                <a:latin typeface="Courier"/>
              </a:rPr>
              <a:t>friedman.test</a:t>
            </a:r>
            <a:r>
              <a:rPr>
                <a:solidFill>
                  <a:srgbClr val="003B4F"/>
                </a:solidFill>
                <a:latin typeface="Courier"/>
              </a:rPr>
              <a:t>(datos)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prueba4Model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Friedman rank sum test
data:  datos
Friedman chi-squared = 9.7692, df = 3, p-value = 0.02063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p4_pvalor&lt;-prueba4Model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Fr&lt;-prueba4Model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de comparaciones múltiples: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#Test comparaciones múltiples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cmf&lt;-</a:t>
            </a:r>
            <a:r>
              <a:rPr>
                <a:solidFill>
                  <a:srgbClr val="4758AB"/>
                </a:solidFill>
                <a:latin typeface="Courier"/>
              </a:rPr>
              <a:t>friedmanmc</a:t>
            </a:r>
            <a:r>
              <a:rPr>
                <a:solidFill>
                  <a:srgbClr val="003B4F"/>
                </a:solidFill>
                <a:latin typeface="Courier"/>
              </a:rPr>
              <a:t>(datos) 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cmf</a:t>
            </a:r>
          </a:p>
          <a:p>
            <a:pPr lvl="0" indent="0">
              <a:buNone/>
            </a:pPr>
            <a:r>
              <a:rPr>
                <a:latin typeface="Courier"/>
              </a:rPr>
              <a:t>Multiple comparisons between groups after Friedman test 
alpha: 0.05 
Comparisons
    obs.dif critical.dif stat.signif    p.value
1-2     3.5     9.633553       FALSE 1.00000000
1-3     5.5     9.633553       FALSE 1.00000000
1-4     5.0     9.633553       FALSE 1.00000000
2-3     2.0     9.633553       FALSE 1.00000000
2-4     8.5     9.633553       FALSE 0.19921617
3-4    10.5     9.633553        TRUE 0.04033327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diferencias_f&lt;-</a:t>
            </a:r>
            <a:r>
              <a:rPr>
                <a:solidFill>
                  <a:srgbClr val="4758AB"/>
                </a:solidFill>
                <a:latin typeface="Courier"/>
              </a:rPr>
              <a:t>row.names</a:t>
            </a:r>
            <a:r>
              <a:rPr>
                <a:solidFill>
                  <a:srgbClr val="003B4F"/>
                </a:solidFill>
                <a:latin typeface="Courier"/>
              </a:rPr>
              <a:t>(cmf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dif.com[cmf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dif.com[</a:t>
            </a:r>
            <a:r>
              <a:rPr>
                <a:solidFill>
                  <a:srgbClr val="20794D"/>
                </a:solidFill>
                <a:latin typeface="Courier"/>
              </a:rPr>
              <a:t>"stat.signif"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,])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Análisis descriptivo:</a:t>
            </a:r>
          </a:p>
          <a:p>
            <a:pPr lvl="0"/>
            <a:r>
              <a:rPr/>
              <a:t>Parece que hay una diferencia significativa entre las opiniones de los expertos sobre si es Argamasilla o Villanueva el pueblo de El Quijote. Las puntuaciones parecen significaivamente mayores para Villanueva.</a:t>
            </a:r>
          </a:p>
          <a:p>
            <a:pPr lvl="0"/>
            <a:r>
              <a:rPr/>
              <a:t>Observando los diagramas de cajas de las variables antes y después de leer la novela, se deduce que parece que existe una diferencia significativa, y que la probabilidad aumenta después de leer el libro.</a:t>
            </a:r>
          </a:p>
          <a:p>
            <a:pPr lvl="0"/>
            <a:r>
              <a:rPr/>
              <a:t>No parece que hay una gran diferencia de opiniones entre los pueblos.</a:t>
            </a:r>
          </a:p>
          <a:p>
            <a:pPr lvl="0"/>
            <a:r>
              <a:rPr/>
              <a:t>Criptana y Villanueva parecen ser los pueblos más probables, aunque quizás Villanueva tiene levemente mayor puntuación.</a:t>
            </a:r>
          </a:p>
          <a:p>
            <a:pPr lvl="0"/>
            <a:r>
              <a:rPr/>
              <a:t>La probabilidad histórica parece el criterio decisivo para elegir El Lugar de La Mancha.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no paramétricos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Prueba 1:</a:t>
            </a:r>
          </a:p>
          <a:p>
            <a:pPr lvl="0"/>
            <a:r>
              <a:rPr/>
              <a:t>El estadístico de contraste fue de W=0 , y el p-valor de 0.0082 por lo tanto Se rechaza la hipótesis nula.</a:t>
            </a:r>
          </a:p>
          <a:p>
            <a:pPr lvl="0"/>
            <a:r>
              <a:rPr/>
              <a:t>Por tanto existen diferencias significativas entre las puntuaciones de Villanueva y Argamasilla. Como la media de Villanueva es mayor es más probable que el pueblo de El Quijote sea Villanueva.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Prueba 2:</a:t>
            </a:r>
          </a:p>
          <a:p>
            <a:pPr lvl="0"/>
            <a:r>
              <a:rPr/>
              <a:t>El estadístico de contraste fue de V=0 , y el p-valor de 0.0384 por lo tanto Se rechaza la hipótesis nula.</a:t>
            </a:r>
          </a:p>
          <a:p>
            <a:pPr lvl="0"/>
            <a:r>
              <a:rPr/>
              <a:t>Por tanto existen diferencias significativas entre las puntuaciones antes y después de leer la novela. Como la media de después de leer la novela es mayor la probabilidad de que Villanueva sea el pueblo de El Quijote ha aumentado.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Prueba 3:</a:t>
            </a:r>
          </a:p>
          <a:p>
            <a:pPr lvl="0"/>
            <a:r>
              <a:rPr/>
              <a:t>El estadístico de contraste fue de H=12.4468085 , y el p-valor de 0.006 por lo tanto Se rechaza la hipótesis nula.</a:t>
            </a:r>
          </a:p>
          <a:p>
            <a:pPr lvl="0"/>
            <a:r>
              <a:rPr/>
              <a:t>Por tanto existen diferencias significativas entre las puntuaciones de los expertos en los cuatro grupos.</a:t>
            </a:r>
          </a:p>
          <a:p>
            <a:pPr lvl="0"/>
            <a:r>
              <a:rPr/>
              <a:t>Analizando los test de comparaciones múltiples se observa que las diferencias están en Argamasilla-Villanueva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Prueba 4:</a:t>
            </a:r>
          </a:p>
          <a:p>
            <a:pPr lvl="0"/>
            <a:r>
              <a:rPr/>
              <a:t>El estadístico de contraste fue de F=9.7692308 , y el p-valor de 0.0206 por lo tanto Se rechaza la hipótesis nula.</a:t>
            </a:r>
          </a:p>
          <a:p>
            <a:pPr lvl="0"/>
            <a:r>
              <a:rPr/>
              <a:t>Analizando los test de comparaciones múltiples se observa que las diferencias están entre los criterios 3-4.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Bibliografía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 Cervantes Saavedra, Miguel. 1605. </a:t>
            </a:r>
            <a:r>
              <a:rPr i="1"/>
              <a:t>El Ingenioso Hidalgo Don Quijote de La Mancha</a:t>
            </a:r>
            <a:r>
              <a:rPr/>
              <a:t>. Juan de la Cuesta.</a:t>
            </a:r>
          </a:p>
          <a:p>
            <a:pPr lvl="0" indent="0" marL="0">
              <a:buNone/>
            </a:pPr>
            <a:r>
              <a:rPr/>
              <a:t>GONZÁLEZ-TORRE, FCO JAVIER GIRÓN, and M JESÚS RÍOS INSUA. 2008. “?‘ De dónde Era Probablemente d. Quijote? Un Enfoque Estadı́stico.” </a:t>
            </a:r>
            <a:r>
              <a:rPr i="1"/>
              <a:t>Revista de La Real Academia de Ciencias Exactas, Fı́sicas y Naturales</a:t>
            </a:r>
            <a:r>
              <a:rPr/>
              <a:t> 102 (1): 251–64.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Buscando EL lugar de la mancha</dc:title>
  <dc:creator>Victoria Ruiz Parrado</dc:creator>
  <cp:keywords/>
  <dcterms:created xsi:type="dcterms:W3CDTF">2025-06-26T14:24:12Z</dcterms:created>
  <dcterms:modified xsi:type="dcterms:W3CDTF">2025-06-26T14:24:12Z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references.bib</vt:lpwstr>
  </property>
  <property fmtid="{D5CDD505-2E9C-101B-9397-08002B2CF9AE}" pid="5" name="by-author">
    <vt:lpwstr/>
  </property>
  <property fmtid="{D5CDD505-2E9C-101B-9397-08002B2CF9AE}" pid="6" name="editor">
    <vt:lpwstr>visual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